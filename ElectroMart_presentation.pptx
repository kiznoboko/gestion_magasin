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7" r:id="rId9"/>
    <p:sldId id="268" r:id="rId10"/>
    <p:sldId id="262" r:id="rId11"/>
    <p:sldId id="263" r:id="rId12"/>
    <p:sldId id="266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6403D7-1EF0-EE43-A671-0A583948A5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CB15FB-CA9E-7DD9-6695-D7B93F29CA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2CF6D-0041-418E-A17E-71A1ABCAF460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3EA47-3948-2245-9EB2-ADD2261EC8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7233C9-0351-857F-D5B4-EC54DFF5ED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E4DF4-5BF9-49B6-A99D-C2DF13E94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0497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2516CE-3652-4A79-BC4F-E6F33DAB04CA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73C981-E62B-43AE-921E-A7098178AA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7847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3C981-E62B-43AE-921E-A7098178AA5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12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AD7B-E08D-4CF2-8A3A-61E7C5C025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C518-E19E-4E05-9170-709FA14670AC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0452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AD7B-E08D-4CF2-8A3A-61E7C5C025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C518-E19E-4E05-9170-709FA1467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88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AD7B-E08D-4CF2-8A3A-61E7C5C025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C518-E19E-4E05-9170-709FA1467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67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AD7B-E08D-4CF2-8A3A-61E7C5C025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C518-E19E-4E05-9170-709FA1467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5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AD7B-E08D-4CF2-8A3A-61E7C5C025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C518-E19E-4E05-9170-709FA1467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580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AD7B-E08D-4CF2-8A3A-61E7C5C025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C518-E19E-4E05-9170-709FA1467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109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AD7B-E08D-4CF2-8A3A-61E7C5C025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C518-E19E-4E05-9170-709FA1467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993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AD7B-E08D-4CF2-8A3A-61E7C5C025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C518-E19E-4E05-9170-709FA1467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68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AD7B-E08D-4CF2-8A3A-61E7C5C025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C518-E19E-4E05-9170-709FA1467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AD7B-E08D-4CF2-8A3A-61E7C5C025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C518-E19E-4E05-9170-709FA1467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981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AD7B-E08D-4CF2-8A3A-61E7C5C025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C518-E19E-4E05-9170-709FA1467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516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AD7B-E08D-4CF2-8A3A-61E7C5C025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C518-E19E-4E05-9170-709FA14670A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12722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AD7B-E08D-4CF2-8A3A-61E7C5C025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C518-E19E-4E05-9170-709FA1467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30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AD7B-E08D-4CF2-8A3A-61E7C5C025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C518-E19E-4E05-9170-709FA14670A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1388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AD7B-E08D-4CF2-8A3A-61E7C5C025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C518-E19E-4E05-9170-709FA1467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15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AD7B-E08D-4CF2-8A3A-61E7C5C025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C518-E19E-4E05-9170-709FA1467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1944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EAD7B-E08D-4CF2-8A3A-61E7C5C025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89C518-E19E-4E05-9170-709FA1467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208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DEEAD7B-E08D-4CF2-8A3A-61E7C5C0253D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A89C518-E19E-4E05-9170-709FA1467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893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B65EC2C-5E72-45C4-9792-4143706AA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A387AE-813C-6230-ABFD-18D7D545C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3184" y="940719"/>
            <a:ext cx="7406374" cy="2971801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du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Electromart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E4009-A586-03D8-3D9E-2A7184C73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8618" y="4725468"/>
            <a:ext cx="5815690" cy="1947333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Réalisé par Anass Tantane et dirigé par la formatrice Malak </a:t>
            </a:r>
            <a:r>
              <a:rPr lang="fr-FR" dirty="0" err="1">
                <a:solidFill>
                  <a:schemeClr val="tx1"/>
                </a:solidFill>
              </a:rPr>
              <a:t>Ourrahte</a:t>
            </a:r>
            <a:r>
              <a:rPr lang="fr-FR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0BE107-D793-88E3-6D5D-6F9FB155F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004" y="2132532"/>
            <a:ext cx="6793100" cy="1827947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073B6DB-4B88-4BCD-97DE-9DD16B88A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6E4CB1-2A79-49F6-8FDD-74161D0D1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AF7F103-B34D-460F-A43A-1A0953D573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A6EF948-AE5B-4AFD-9071-4553E2EA5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A008A68-D48C-4C79-AC7D-65C0D47EA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D2F0D54-7F2F-45FC-BA8B-BE63A7DA4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181CEB9-256F-6A16-6411-8558CCDF0652}"/>
              </a:ext>
            </a:extLst>
          </p:cNvPr>
          <p:cNvSpPr txBox="1"/>
          <p:nvPr/>
        </p:nvSpPr>
        <p:spPr>
          <a:xfrm>
            <a:off x="11653306" y="316468"/>
            <a:ext cx="8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C4CB65-D5B9-B4F8-940D-D5F1794423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071" y="342988"/>
            <a:ext cx="2607893" cy="13647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C47517-3D00-A8C5-0584-54A69E4380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36" y="342366"/>
            <a:ext cx="14478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561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575EC-8960-CF35-FE73-7AF9A65A3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085" y="514505"/>
            <a:ext cx="8534400" cy="1426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 err="1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Sommaire</a:t>
            </a:r>
            <a:endParaRPr lang="en-US" sz="44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1569E2-E3DA-D00E-99AC-5CBACB1295DA}"/>
              </a:ext>
            </a:extLst>
          </p:cNvPr>
          <p:cNvSpPr txBox="1"/>
          <p:nvPr/>
        </p:nvSpPr>
        <p:spPr>
          <a:xfrm>
            <a:off x="11316101" y="329839"/>
            <a:ext cx="8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C7AD92B-C531-23A0-6EC2-3B4BC4E043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39053" y="2548464"/>
            <a:ext cx="6127062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cap="none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-  Introduction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cap="none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 Description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cap="none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- 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Approche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développement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cap="none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-  Architecture -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Diagrammes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UML - Triggers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cap="none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5  - 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utilisées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cap="none" dirty="0">
                <a:ln>
                  <a:noFill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6  - 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Apprentissage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conclusion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  -  Points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d’amelioration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540FD7-B8CA-34F0-C121-86C6EC3C8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7955" y="4943593"/>
            <a:ext cx="6793100" cy="1827947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1026592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91A8D-8E53-6432-6554-673338AF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B477D-E067-FDE1-C900-04025FDDB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012" y="228601"/>
            <a:ext cx="8534400" cy="1426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4400" dirty="0">
                <a:solidFill>
                  <a:schemeClr val="bg2">
                    <a:lumMod val="50000"/>
                  </a:schemeClr>
                </a:solidFill>
                <a:latin typeface="+mj-lt"/>
                <a:cs typeface="Times New Roman" panose="02020603050405020304" pitchFamily="18" charset="0"/>
              </a:rPr>
              <a:t>1.Introduction</a:t>
            </a:r>
            <a:r>
              <a:rPr lang="en-US" alt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5B5C5-DC34-D5B2-A11B-507BF0F9E8BD}"/>
              </a:ext>
            </a:extLst>
          </p:cNvPr>
          <p:cNvSpPr txBox="1"/>
          <p:nvPr/>
        </p:nvSpPr>
        <p:spPr>
          <a:xfrm>
            <a:off x="11438187" y="367546"/>
            <a:ext cx="8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954B6B3-9994-6873-A85C-CDF69BC4F7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86947" y="1655065"/>
            <a:ext cx="1070267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fr-FR" cap="none" dirty="0">
                <a:latin typeface="Century Gothic (Headings)"/>
                <a:cs typeface="Times New Roman" panose="02020603050405020304" pitchFamily="18" charset="0"/>
              </a:rPr>
              <a:t>Le projet </a:t>
            </a:r>
            <a:r>
              <a:rPr lang="fr-FR" cap="none" dirty="0" err="1">
                <a:latin typeface="Century Gothic (Headings)"/>
                <a:cs typeface="Times New Roman" panose="02020603050405020304" pitchFamily="18" charset="0"/>
              </a:rPr>
              <a:t>electromart</a:t>
            </a:r>
            <a:r>
              <a:rPr lang="fr-FR" cap="none" dirty="0">
                <a:latin typeface="Century Gothic (Headings)"/>
                <a:cs typeface="Times New Roman" panose="02020603050405020304" pitchFamily="18" charset="0"/>
              </a:rPr>
              <a:t> est une plateforme de commerce électronique dédiée à la vente des produits électroniques.</a:t>
            </a:r>
            <a:br>
              <a:rPr lang="fr-FR" cap="none" dirty="0">
                <a:latin typeface="Century Gothic (Headings)"/>
                <a:cs typeface="Times New Roman" panose="02020603050405020304" pitchFamily="18" charset="0"/>
              </a:rPr>
            </a:br>
            <a:r>
              <a:rPr lang="fr-FR" cap="none" dirty="0">
                <a:latin typeface="Century Gothic (Headings)"/>
                <a:cs typeface="Times New Roman" panose="02020603050405020304" pitchFamily="18" charset="0"/>
              </a:rPr>
              <a:t>L’objectif principal du projet est de faciliter l’achat et la gestion des produits en ligne à travers une interface simple, moderne et sécurisée.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(Headings)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A3EFEB-0B6E-C55C-ED36-94A208FE4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2876" y="5030053"/>
            <a:ext cx="6793100" cy="1827947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3935643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2A117-6932-7E1F-7B39-9BB087EF6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3DB03-5053-6BEE-AF4C-BD47D7C27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012" y="228601"/>
            <a:ext cx="8534400" cy="1426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2.Description</a:t>
            </a:r>
            <a:endParaRPr 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52710-EE7E-C148-A394-D4F239258EBE}"/>
              </a:ext>
            </a:extLst>
          </p:cNvPr>
          <p:cNvSpPr txBox="1"/>
          <p:nvPr/>
        </p:nvSpPr>
        <p:spPr>
          <a:xfrm>
            <a:off x="11400479" y="301558"/>
            <a:ext cx="8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D4CB3B4-F433-8B59-1E99-AB9A236CA2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4082" y="2469179"/>
            <a:ext cx="1070267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Aft>
                <a:spcPct val="0"/>
              </a:spcAft>
            </a:pPr>
            <a:r>
              <a:rPr lang="fr-FR" cap="none" dirty="0"/>
              <a:t>L’idée de ce projet est née de notre désir de rendre l’accès, l’achat et la vente des produits électroniques plus faciles pour le consommateur.</a:t>
            </a:r>
            <a:br>
              <a:rPr lang="fr-FR" dirty="0"/>
            </a:b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C87BA4-5350-6A4A-95F8-DE9CBD002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791" y="5030053"/>
            <a:ext cx="6793100" cy="1827947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3751566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61720-5083-D411-ABC3-7F617560A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5132B-CB8F-C6A6-2DC1-6EB21D7AF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012" y="228601"/>
            <a:ext cx="10048204" cy="1426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3.Approche de </a:t>
            </a:r>
            <a:r>
              <a:rPr lang="en-US" sz="4400" dirty="0" err="1"/>
              <a:t>développement</a:t>
            </a:r>
            <a:endParaRPr 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45B1EF-EC1D-0823-9F6B-922B4C8B8BDF}"/>
              </a:ext>
            </a:extLst>
          </p:cNvPr>
          <p:cNvSpPr txBox="1"/>
          <p:nvPr/>
        </p:nvSpPr>
        <p:spPr>
          <a:xfrm>
            <a:off x="11428759" y="329838"/>
            <a:ext cx="8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1E5815D-6B89-DE75-DED9-7661466090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6978" y="2162205"/>
            <a:ext cx="1070267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800" cap="none" dirty="0"/>
              <a:t>Le développement du projet a été réalisé en suivant une approche structurée basée sur :</a:t>
            </a:r>
            <a:br>
              <a:rPr lang="fr-FR" sz="2800" cap="none" dirty="0"/>
            </a:br>
            <a:r>
              <a:rPr lang="fr-FR" sz="2800" cap="none" dirty="0"/>
              <a:t>l’analyse des besoins des utilisateurs, </a:t>
            </a:r>
            <a:br>
              <a:rPr lang="fr-FR" sz="2800" cap="none" dirty="0"/>
            </a:br>
            <a:r>
              <a:rPr lang="fr-FR" sz="2800" cap="none" dirty="0"/>
              <a:t>la conception des interfaces, </a:t>
            </a:r>
            <a:br>
              <a:rPr lang="fr-FR" sz="2800" cap="none" dirty="0"/>
            </a:br>
            <a:r>
              <a:rPr lang="fr-FR" sz="2800" cap="none" dirty="0"/>
              <a:t>le développement des fonctionnalités, </a:t>
            </a:r>
            <a:br>
              <a:rPr lang="fr-FR" sz="2800" cap="none" dirty="0"/>
            </a:br>
            <a:r>
              <a:rPr lang="fr-FR" sz="2800" cap="none" dirty="0"/>
              <a:t>les tests et la validation. </a:t>
            </a:r>
            <a:br>
              <a:rPr lang="fr-FR" sz="2800" cap="none" dirty="0"/>
            </a:br>
            <a:r>
              <a:rPr lang="fr-FR" sz="2800" cap="none" dirty="0"/>
              <a:t>Une méthode de développement progressive a été utilisée afin d’améliorer le système étape par étape.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A741F2-CA8F-54C0-59B3-1052B7CC4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996" y="4917165"/>
            <a:ext cx="6793100" cy="1827947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3237047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CDBEB-4A82-A1E0-3A62-AA03F29E8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0A413-411A-6F93-3E08-01434376B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012" y="228601"/>
            <a:ext cx="8534400" cy="1426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4.Architecture</a:t>
            </a:r>
            <a:endParaRPr 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374D6D-A0C4-B324-4BCE-E59C5A418C53}"/>
              </a:ext>
            </a:extLst>
          </p:cNvPr>
          <p:cNvSpPr txBox="1"/>
          <p:nvPr/>
        </p:nvSpPr>
        <p:spPr>
          <a:xfrm>
            <a:off x="11316101" y="228601"/>
            <a:ext cx="8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E526EA1-0AD9-C2CC-EFF8-B1E768F508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6978" y="2593092"/>
            <a:ext cx="1070267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800" dirty="0"/>
              <a:t>L’architecture du projet est organisée en plusieurs parties :</a:t>
            </a:r>
            <a:br>
              <a:rPr lang="fr-FR" sz="2800" dirty="0"/>
            </a:br>
            <a:r>
              <a:rPr lang="fr-FR" sz="2800" b="1" dirty="0"/>
              <a:t>Frontend</a:t>
            </a:r>
            <a:r>
              <a:rPr lang="fr-FR" sz="2800" dirty="0"/>
              <a:t> : interface utilisateur visible par les clients, </a:t>
            </a:r>
            <a:br>
              <a:rPr lang="fr-FR" sz="2800" dirty="0"/>
            </a:br>
            <a:r>
              <a:rPr lang="fr-FR" sz="2800" b="1" dirty="0"/>
              <a:t>Backend</a:t>
            </a:r>
            <a:r>
              <a:rPr lang="fr-FR" sz="2800" dirty="0"/>
              <a:t> : gestion de la logique métier et des données, </a:t>
            </a:r>
            <a:br>
              <a:rPr lang="fr-FR" sz="2800" dirty="0"/>
            </a:br>
            <a:r>
              <a:rPr lang="fr-FR" sz="2800" b="1" dirty="0"/>
              <a:t>Base de données</a:t>
            </a:r>
            <a:r>
              <a:rPr lang="fr-FR" sz="2800" dirty="0"/>
              <a:t> : stockage des informations des utilisateurs, produits et commandes.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CC9EBD-3A66-9F4A-CD06-BAF8BD924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996" y="4917165"/>
            <a:ext cx="6793100" cy="1827947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388821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BF2E3-3225-07D9-2ABD-4F29C5BD4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0C0AE-2F37-9719-34D6-517EDE486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0847" y="2557022"/>
            <a:ext cx="8534400" cy="1426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Diagrammes</a:t>
            </a:r>
            <a:r>
              <a:rPr lang="en-US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UML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39EC31-66EA-E353-EAFC-4932EE1E4161}"/>
              </a:ext>
            </a:extLst>
          </p:cNvPr>
          <p:cNvSpPr txBox="1"/>
          <p:nvPr/>
        </p:nvSpPr>
        <p:spPr>
          <a:xfrm>
            <a:off x="11316101" y="228601"/>
            <a:ext cx="8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56988F-24C7-009E-238E-4E24FFB43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996" y="4917165"/>
            <a:ext cx="6793100" cy="1827947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250470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8C49-F334-D343-087D-E057C08D1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50" y="114299"/>
            <a:ext cx="2648923" cy="1507067"/>
          </a:xfrm>
        </p:spPr>
        <p:txBody>
          <a:bodyPr/>
          <a:lstStyle/>
          <a:p>
            <a:r>
              <a:rPr lang="en-US" dirty="0"/>
              <a:t>.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Triggers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FB9DC-2391-3958-8018-0A2FDC872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349" y="1621366"/>
            <a:ext cx="4536717" cy="343733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1. </a:t>
            </a:r>
            <a:r>
              <a:rPr lang="en-US" b="1" dirty="0" err="1">
                <a:solidFill>
                  <a:schemeClr val="tx1"/>
                </a:solidFill>
              </a:rPr>
              <a:t>prevent_buy_when_stock_zero</a:t>
            </a:r>
            <a:r>
              <a:rPr lang="en-US" b="1" dirty="0">
                <a:solidFill>
                  <a:schemeClr val="tx1"/>
                </a:solidFill>
              </a:rPr>
              <a:t> (BEFORE INSERT sur </a:t>
            </a:r>
            <a:r>
              <a:rPr lang="en-US" b="1" dirty="0" err="1">
                <a:solidFill>
                  <a:schemeClr val="tx1"/>
                </a:solidFill>
              </a:rPr>
              <a:t>ligne_commandes</a:t>
            </a:r>
            <a:r>
              <a:rPr lang="en-US" b="1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tx1"/>
                </a:solidFill>
              </a:rPr>
              <a:t>Rôle</a:t>
            </a:r>
            <a:r>
              <a:rPr lang="en-US" b="1" dirty="0">
                <a:solidFill>
                  <a:schemeClr val="tx1"/>
                </a:solidFill>
              </a:rPr>
              <a:t> :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S’exécute</a:t>
            </a:r>
            <a:r>
              <a:rPr lang="en-US" dirty="0">
                <a:solidFill>
                  <a:schemeClr val="tx1"/>
                </a:solidFill>
              </a:rPr>
              <a:t> avant </a:t>
            </a:r>
            <a:r>
              <a:rPr lang="en-US" dirty="0" err="1">
                <a:solidFill>
                  <a:schemeClr val="tx1"/>
                </a:solidFill>
              </a:rPr>
              <a:t>l’ajout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d’une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commande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tx1"/>
                </a:solidFill>
              </a:rPr>
              <a:t>Fonctionnement</a:t>
            </a:r>
            <a:r>
              <a:rPr lang="en-US" b="1" dirty="0">
                <a:solidFill>
                  <a:schemeClr val="tx1"/>
                </a:solidFill>
              </a:rPr>
              <a:t> :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Récupère</a:t>
            </a:r>
            <a:r>
              <a:rPr lang="en-US" dirty="0">
                <a:solidFill>
                  <a:schemeClr val="tx1"/>
                </a:solidFill>
              </a:rPr>
              <a:t> le stock </a:t>
            </a:r>
            <a:r>
              <a:rPr lang="en-US" dirty="0" err="1">
                <a:solidFill>
                  <a:schemeClr val="tx1"/>
                </a:solidFill>
              </a:rPr>
              <a:t>actuel</a:t>
            </a:r>
            <a:r>
              <a:rPr lang="en-US" dirty="0">
                <a:solidFill>
                  <a:schemeClr val="tx1"/>
                </a:solidFill>
              </a:rPr>
              <a:t> du </a:t>
            </a:r>
            <a:r>
              <a:rPr lang="en-US" dirty="0" err="1">
                <a:solidFill>
                  <a:schemeClr val="tx1"/>
                </a:solidFill>
              </a:rPr>
              <a:t>produit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Si le stock ≤ 0 → </a:t>
            </a:r>
            <a:r>
              <a:rPr lang="en-US" dirty="0" err="1">
                <a:solidFill>
                  <a:schemeClr val="tx1"/>
                </a:solidFill>
              </a:rPr>
              <a:t>bloque</a:t>
            </a:r>
            <a:r>
              <a:rPr lang="en-US" dirty="0">
                <a:solidFill>
                  <a:schemeClr val="tx1"/>
                </a:solidFill>
              </a:rPr>
              <a:t> la </a:t>
            </a:r>
            <a:r>
              <a:rPr lang="en-US" dirty="0" err="1">
                <a:solidFill>
                  <a:schemeClr val="tx1"/>
                </a:solidFill>
              </a:rPr>
              <a:t>commande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tx1"/>
                </a:solidFill>
              </a:rPr>
              <a:t>Effet</a:t>
            </a:r>
            <a:r>
              <a:rPr lang="en-US" b="1" dirty="0">
                <a:solidFill>
                  <a:schemeClr val="tx1"/>
                </a:solidFill>
              </a:rPr>
              <a:t> :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Empêche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l’achat</a:t>
            </a:r>
            <a:r>
              <a:rPr lang="en-US" dirty="0">
                <a:solidFill>
                  <a:schemeClr val="tx1"/>
                </a:solidFill>
              </a:rPr>
              <a:t> d’un </a:t>
            </a:r>
            <a:r>
              <a:rPr lang="en-US" dirty="0" err="1">
                <a:solidFill>
                  <a:schemeClr val="tx1"/>
                </a:solidFill>
              </a:rPr>
              <a:t>produit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en</a:t>
            </a:r>
            <a:r>
              <a:rPr lang="en-US" dirty="0">
                <a:solidFill>
                  <a:schemeClr val="tx1"/>
                </a:solidFill>
              </a:rPr>
              <a:t> rupture de stock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Message </a:t>
            </a:r>
            <a:r>
              <a:rPr lang="en-US" b="1" dirty="0" err="1">
                <a:solidFill>
                  <a:schemeClr val="tx1"/>
                </a:solidFill>
              </a:rPr>
              <a:t>d’erreur</a:t>
            </a:r>
            <a:r>
              <a:rPr lang="en-US" b="1" dirty="0">
                <a:solidFill>
                  <a:schemeClr val="tx1"/>
                </a:solidFill>
              </a:rPr>
              <a:t> :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"Product is out of stock"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530B5D2-5AFA-0F3D-BC40-C07CFE4DA75B}"/>
              </a:ext>
            </a:extLst>
          </p:cNvPr>
          <p:cNvSpPr txBox="1">
            <a:spLocks/>
          </p:cNvSpPr>
          <p:nvPr/>
        </p:nvSpPr>
        <p:spPr>
          <a:xfrm>
            <a:off x="7030934" y="1710334"/>
            <a:ext cx="4536717" cy="343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2. </a:t>
            </a:r>
            <a:r>
              <a:rPr lang="en-US" b="1" dirty="0" err="1">
                <a:solidFill>
                  <a:schemeClr val="tx1"/>
                </a:solidFill>
              </a:rPr>
              <a:t>decrease_stock_after_order</a:t>
            </a:r>
            <a:r>
              <a:rPr lang="en-US" b="1" dirty="0">
                <a:solidFill>
                  <a:schemeClr val="tx1"/>
                </a:solidFill>
              </a:rPr>
              <a:t> (AFTER INSERT sur </a:t>
            </a:r>
            <a:r>
              <a:rPr lang="en-US" b="1" dirty="0" err="1">
                <a:solidFill>
                  <a:schemeClr val="tx1"/>
                </a:solidFill>
              </a:rPr>
              <a:t>ligne_commandes</a:t>
            </a:r>
            <a:r>
              <a:rPr lang="en-US" b="1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tx1"/>
                </a:solidFill>
              </a:rPr>
              <a:t>Rôle</a:t>
            </a:r>
            <a:r>
              <a:rPr lang="en-US" b="1" dirty="0">
                <a:solidFill>
                  <a:schemeClr val="tx1"/>
                </a:solidFill>
              </a:rPr>
              <a:t> :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S’exécute</a:t>
            </a:r>
            <a:r>
              <a:rPr lang="en-US" dirty="0">
                <a:solidFill>
                  <a:schemeClr val="tx1"/>
                </a:solidFill>
              </a:rPr>
              <a:t> après </a:t>
            </a:r>
            <a:r>
              <a:rPr lang="en-US" dirty="0" err="1">
                <a:solidFill>
                  <a:schemeClr val="tx1"/>
                </a:solidFill>
              </a:rPr>
              <a:t>l’ajout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d’une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commande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tx1"/>
                </a:solidFill>
              </a:rPr>
              <a:t>Fonctionnement</a:t>
            </a:r>
            <a:r>
              <a:rPr lang="en-US" b="1" dirty="0">
                <a:solidFill>
                  <a:schemeClr val="tx1"/>
                </a:solidFill>
              </a:rPr>
              <a:t> :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</a:rPr>
              <a:t>Diminue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automatiquement</a:t>
            </a:r>
            <a:r>
              <a:rPr lang="en-US" dirty="0">
                <a:solidFill>
                  <a:schemeClr val="tx1"/>
                </a:solidFill>
              </a:rPr>
              <a:t> le stock 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stock = stock - </a:t>
            </a:r>
            <a:r>
              <a:rPr lang="en-US" dirty="0" err="1">
                <a:solidFill>
                  <a:schemeClr val="tx1"/>
                </a:solidFill>
              </a:rPr>
              <a:t>quantité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commandée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tx1"/>
                </a:solidFill>
              </a:rPr>
              <a:t>Effet</a:t>
            </a:r>
            <a:r>
              <a:rPr lang="en-US" b="1" dirty="0">
                <a:solidFill>
                  <a:schemeClr val="tx1"/>
                </a:solidFill>
              </a:rPr>
              <a:t> :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Met à jour </a:t>
            </a:r>
            <a:r>
              <a:rPr lang="en-US" dirty="0" err="1">
                <a:solidFill>
                  <a:schemeClr val="tx1"/>
                </a:solidFill>
              </a:rPr>
              <a:t>automatiquement</a:t>
            </a:r>
            <a:r>
              <a:rPr lang="en-US" dirty="0">
                <a:solidFill>
                  <a:schemeClr val="tx1"/>
                </a:solidFill>
              </a:rPr>
              <a:t> le stock après </a:t>
            </a:r>
            <a:r>
              <a:rPr lang="en-US" dirty="0" err="1">
                <a:solidFill>
                  <a:schemeClr val="tx1"/>
                </a:solidFill>
              </a:rPr>
              <a:t>une</a:t>
            </a:r>
            <a:r>
              <a:rPr lang="en-US" dirty="0">
                <a:solidFill>
                  <a:schemeClr val="tx1"/>
                </a:solidFill>
              </a:rPr>
              <a:t> vente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F98E8A-F77A-9775-186B-B3A50DFD3D3B}"/>
              </a:ext>
            </a:extLst>
          </p:cNvPr>
          <p:cNvSpPr txBox="1"/>
          <p:nvPr/>
        </p:nvSpPr>
        <p:spPr>
          <a:xfrm>
            <a:off x="11316101" y="228601"/>
            <a:ext cx="8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AA21FC-59BE-2C45-D183-1C4D97AF4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996" y="4917165"/>
            <a:ext cx="6793100" cy="1827947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728002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D4929-DDCB-4A42-B8CC-18349B817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41617-CCD9-5841-6E9B-AFC738BE9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939" y="255438"/>
            <a:ext cx="4536717" cy="300690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tx1"/>
                </a:solidFill>
              </a:rPr>
              <a:t>3. </a:t>
            </a:r>
            <a:r>
              <a:rPr lang="fr-FR" b="1" dirty="0" err="1">
                <a:solidFill>
                  <a:schemeClr val="tx1"/>
                </a:solidFill>
              </a:rPr>
              <a:t>check_stock_before_insert</a:t>
            </a:r>
            <a:r>
              <a:rPr lang="fr-FR" b="1" dirty="0">
                <a:solidFill>
                  <a:schemeClr val="tx1"/>
                </a:solidFill>
              </a:rPr>
              <a:t> (BEFORE INSERT sur produits)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tx1"/>
                </a:solidFill>
              </a:rPr>
              <a:t>Rôle :</a:t>
            </a: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Valide les données avant création d’un produit. 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tx1"/>
                </a:solidFill>
              </a:rPr>
              <a:t>Fonctionnement :</a:t>
            </a: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Si le stock est négatif → insertion bloquée 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tx1"/>
                </a:solidFill>
              </a:rPr>
              <a:t>Effet :</a:t>
            </a: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Empêche la création de produits avec stock invalide 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tx1"/>
                </a:solidFill>
              </a:rPr>
              <a:t>Message d’erreur :</a:t>
            </a: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"Stock </a:t>
            </a:r>
            <a:r>
              <a:rPr lang="fr-FR" dirty="0" err="1">
                <a:solidFill>
                  <a:schemeClr val="tx1"/>
                </a:solidFill>
              </a:rPr>
              <a:t>cannot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be</a:t>
            </a:r>
            <a:r>
              <a:rPr lang="fr-FR" dirty="0">
                <a:solidFill>
                  <a:schemeClr val="tx1"/>
                </a:solidFill>
              </a:rPr>
              <a:t> </a:t>
            </a:r>
            <a:r>
              <a:rPr lang="fr-FR" dirty="0" err="1">
                <a:solidFill>
                  <a:schemeClr val="tx1"/>
                </a:solidFill>
              </a:rPr>
              <a:t>negative</a:t>
            </a:r>
            <a:r>
              <a:rPr lang="fr-FR" dirty="0">
                <a:solidFill>
                  <a:schemeClr val="tx1"/>
                </a:solidFill>
              </a:rPr>
              <a:t>"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67C5E8F-909F-19E7-7E6E-02A3042E08D6}"/>
              </a:ext>
            </a:extLst>
          </p:cNvPr>
          <p:cNvSpPr txBox="1">
            <a:spLocks/>
          </p:cNvSpPr>
          <p:nvPr/>
        </p:nvSpPr>
        <p:spPr>
          <a:xfrm>
            <a:off x="6938845" y="375143"/>
            <a:ext cx="4536717" cy="343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500" b="1" dirty="0">
                <a:solidFill>
                  <a:schemeClr val="tx1"/>
                </a:solidFill>
              </a:rPr>
              <a:t>4. </a:t>
            </a:r>
            <a:r>
              <a:rPr lang="fr-FR" sz="1500" b="1" dirty="0" err="1">
                <a:solidFill>
                  <a:schemeClr val="tx1"/>
                </a:solidFill>
              </a:rPr>
              <a:t>check_stock_before_update</a:t>
            </a:r>
            <a:r>
              <a:rPr lang="fr-FR" sz="1500" b="1" dirty="0">
                <a:solidFill>
                  <a:schemeClr val="tx1"/>
                </a:solidFill>
              </a:rPr>
              <a:t> (BEFORE UPDATE sur produits)</a:t>
            </a:r>
          </a:p>
          <a:p>
            <a:pPr marL="0" indent="0">
              <a:buNone/>
            </a:pPr>
            <a:r>
              <a:rPr lang="fr-FR" sz="1500" b="1" dirty="0">
                <a:solidFill>
                  <a:schemeClr val="tx1"/>
                </a:solidFill>
              </a:rPr>
              <a:t>Rôle :</a:t>
            </a:r>
            <a:endParaRPr lang="fr-FR" sz="15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sz="1500" dirty="0">
                <a:solidFill>
                  <a:schemeClr val="tx1"/>
                </a:solidFill>
              </a:rPr>
              <a:t>Vérifie les données avant modification d’un produit. </a:t>
            </a:r>
          </a:p>
          <a:p>
            <a:pPr marL="0" indent="0">
              <a:buNone/>
            </a:pPr>
            <a:r>
              <a:rPr lang="fr-FR" sz="1500" b="1" dirty="0">
                <a:solidFill>
                  <a:schemeClr val="tx1"/>
                </a:solidFill>
              </a:rPr>
              <a:t>Fonctionnement :</a:t>
            </a:r>
            <a:endParaRPr lang="fr-FR" sz="15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sz="1500" dirty="0">
                <a:solidFill>
                  <a:schemeClr val="tx1"/>
                </a:solidFill>
              </a:rPr>
              <a:t>Si le nouveau stock &lt; 0 → modification refusée </a:t>
            </a:r>
          </a:p>
          <a:p>
            <a:pPr marL="0" indent="0">
              <a:buNone/>
            </a:pPr>
            <a:r>
              <a:rPr lang="fr-FR" sz="1500" b="1" dirty="0">
                <a:solidFill>
                  <a:schemeClr val="tx1"/>
                </a:solidFill>
              </a:rPr>
              <a:t>Effet :</a:t>
            </a:r>
            <a:endParaRPr lang="fr-FR" sz="15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sz="1500" dirty="0">
                <a:solidFill>
                  <a:schemeClr val="tx1"/>
                </a:solidFill>
              </a:rPr>
              <a:t>Garantit un stock toujours valide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1223BD-C7B0-D440-EAD8-E380BCA198FF}"/>
              </a:ext>
            </a:extLst>
          </p:cNvPr>
          <p:cNvSpPr txBox="1">
            <a:spLocks/>
          </p:cNvSpPr>
          <p:nvPr/>
        </p:nvSpPr>
        <p:spPr>
          <a:xfrm>
            <a:off x="483671" y="3165231"/>
            <a:ext cx="5734249" cy="343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1" dirty="0">
                <a:solidFill>
                  <a:schemeClr val="tx1"/>
                </a:solidFill>
              </a:rPr>
              <a:t>5. </a:t>
            </a:r>
            <a:r>
              <a:rPr lang="fr-FR" sz="1400" b="1" dirty="0" err="1">
                <a:solidFill>
                  <a:schemeClr val="tx1"/>
                </a:solidFill>
              </a:rPr>
              <a:t>insert_into_draft_when_stock_zero</a:t>
            </a:r>
            <a:r>
              <a:rPr lang="fr-FR" sz="1400" b="1" dirty="0">
                <a:solidFill>
                  <a:schemeClr val="tx1"/>
                </a:solidFill>
              </a:rPr>
              <a:t> (AFTER UPDATE sur produits)</a:t>
            </a:r>
          </a:p>
          <a:p>
            <a:pPr marL="0" indent="0">
              <a:buNone/>
            </a:pPr>
            <a:r>
              <a:rPr lang="fr-FR" sz="1400" b="1" dirty="0">
                <a:solidFill>
                  <a:schemeClr val="tx1"/>
                </a:solidFill>
              </a:rPr>
              <a:t>Rôle :</a:t>
            </a:r>
            <a:endParaRPr lang="fr-FR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sz="1400" dirty="0">
                <a:solidFill>
                  <a:schemeClr val="tx1"/>
                </a:solidFill>
              </a:rPr>
              <a:t>Gère les produits en rupture de stock. </a:t>
            </a:r>
          </a:p>
          <a:p>
            <a:pPr marL="0" indent="0">
              <a:buNone/>
            </a:pPr>
            <a:r>
              <a:rPr lang="fr-FR" sz="1400" b="1" dirty="0">
                <a:solidFill>
                  <a:schemeClr val="tx1"/>
                </a:solidFill>
              </a:rPr>
              <a:t>Fonctionnement :</a:t>
            </a:r>
            <a:endParaRPr lang="fr-FR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sz="1400" dirty="0">
                <a:solidFill>
                  <a:schemeClr val="tx1"/>
                </a:solidFill>
              </a:rPr>
              <a:t>Si le stock = 0 : </a:t>
            </a:r>
          </a:p>
          <a:p>
            <a:pPr marL="457200" lvl="1" indent="0">
              <a:buNone/>
            </a:pPr>
            <a:r>
              <a:rPr lang="fr-FR" sz="1400" dirty="0">
                <a:solidFill>
                  <a:schemeClr val="tx1"/>
                </a:solidFill>
              </a:rPr>
              <a:t>vérifie s’il existe déjà dans </a:t>
            </a:r>
            <a:r>
              <a:rPr lang="fr-FR" sz="1400" dirty="0" err="1">
                <a:solidFill>
                  <a:schemeClr val="tx1"/>
                </a:solidFill>
              </a:rPr>
              <a:t>draft_produits</a:t>
            </a:r>
            <a:r>
              <a:rPr lang="fr-FR" sz="1400" dirty="0">
                <a:solidFill>
                  <a:schemeClr val="tx1"/>
                </a:solidFill>
              </a:rPr>
              <a:t> </a:t>
            </a:r>
          </a:p>
          <a:p>
            <a:pPr marL="457200" lvl="1" indent="0">
              <a:buNone/>
            </a:pPr>
            <a:r>
              <a:rPr lang="fr-FR" sz="1400" dirty="0">
                <a:solidFill>
                  <a:schemeClr val="tx1"/>
                </a:solidFill>
              </a:rPr>
              <a:t>sinon l’ajoute automatiquement </a:t>
            </a:r>
          </a:p>
          <a:p>
            <a:pPr marL="0" indent="0">
              <a:buNone/>
            </a:pPr>
            <a:r>
              <a:rPr lang="fr-FR" sz="1400" b="1" dirty="0">
                <a:solidFill>
                  <a:schemeClr val="tx1"/>
                </a:solidFill>
              </a:rPr>
              <a:t>Effet :</a:t>
            </a:r>
            <a:endParaRPr lang="fr-FR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sz="1400" dirty="0">
                <a:solidFill>
                  <a:schemeClr val="tx1"/>
                </a:solidFill>
              </a:rPr>
              <a:t>Archive automatiquement les produits épuisés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989861-A85F-00CA-286B-184AB31F73B6}"/>
              </a:ext>
            </a:extLst>
          </p:cNvPr>
          <p:cNvSpPr txBox="1"/>
          <p:nvPr/>
        </p:nvSpPr>
        <p:spPr>
          <a:xfrm>
            <a:off x="10832430" y="5921479"/>
            <a:ext cx="8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11E2D7-5D22-1F82-CB93-8EF018AFC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996" y="4917165"/>
            <a:ext cx="6793100" cy="1827947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4094447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E430A-92FC-6FE2-E6DE-48C08FFF5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F1C61-101A-9E47-8BC2-0D3EA23C6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012" y="228601"/>
            <a:ext cx="8534400" cy="1426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5.Technologies </a:t>
            </a:r>
            <a:r>
              <a:rPr lang="en-US" sz="4400" dirty="0" err="1"/>
              <a:t>utilisées</a:t>
            </a:r>
            <a:endParaRPr 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A18FC3-F79F-17DB-43EB-5B3AE7FF4F9D}"/>
              </a:ext>
            </a:extLst>
          </p:cNvPr>
          <p:cNvSpPr txBox="1"/>
          <p:nvPr/>
        </p:nvSpPr>
        <p:spPr>
          <a:xfrm>
            <a:off x="11340186" y="228601"/>
            <a:ext cx="8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5C8995-03F9-E83C-6ADC-9B3E685B6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996" y="4917165"/>
            <a:ext cx="6793100" cy="1827947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E88370B-8457-7A96-2247-8877E3D45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7675" y="3116630"/>
            <a:ext cx="6704271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/ CSS / JavaScript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interfaces web,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développement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 frontend,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développement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 backend,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gestion de la base de données,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 &amp; GitHub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gestion du code source et collaboration.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49B60B-C707-CABB-6337-BAA74D8D6A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810" y="1655065"/>
            <a:ext cx="2420276" cy="1170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4FEC696-1F4C-762F-9A63-DBBD3CB5F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547" y="2492807"/>
            <a:ext cx="1028062" cy="9361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ECE1AA-8B16-F905-2C12-3A6C7904CE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506" y="3846165"/>
            <a:ext cx="2335490" cy="11677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A61E2F-537A-BAF2-7FDD-25AC666254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8300" y="5011768"/>
            <a:ext cx="2291619" cy="9821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4619FF6-EC3E-4CFF-382F-9EAB177FC0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603" y="5635087"/>
            <a:ext cx="1606318" cy="8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310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5BAD-859F-BC8D-38B8-D7B47387A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869A0-19A1-9A1E-8728-A2733155E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012" y="228601"/>
            <a:ext cx="8534400" cy="1426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/>
              <a:t>6.Apprentissage et conclusion</a:t>
            </a:r>
            <a:endParaRPr lang="en-US" sz="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C13E3C-5FF9-7C05-D9AA-0B72E79B0B84}"/>
              </a:ext>
            </a:extLst>
          </p:cNvPr>
          <p:cNvSpPr txBox="1"/>
          <p:nvPr/>
        </p:nvSpPr>
        <p:spPr>
          <a:xfrm>
            <a:off x="11316101" y="320412"/>
            <a:ext cx="8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73DC8A-8FD1-6B1E-0AAA-BC7D6DAA8B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996" y="4917165"/>
            <a:ext cx="6793100" cy="1827947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0B4B5D1-CFED-92F4-B115-D783190DD8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7675" y="2547243"/>
            <a:ext cx="9026263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fr-FR" sz="2000" cap="none" dirty="0"/>
              <a:t>À travers ce projet, plusieurs compétences ont été développées:</a:t>
            </a:r>
            <a:br>
              <a:rPr lang="fr-FR" sz="2000" cap="none" dirty="0"/>
            </a:br>
            <a:r>
              <a:rPr lang="fr-FR" sz="2000" cap="none" dirty="0"/>
              <a:t>- développement web, </a:t>
            </a:r>
            <a:br>
              <a:rPr lang="fr-FR" sz="2000" cap="none" dirty="0"/>
            </a:br>
            <a:r>
              <a:rPr lang="fr-FR" sz="2000" cap="none" dirty="0"/>
              <a:t>- gestion des bases de données, </a:t>
            </a:r>
            <a:br>
              <a:rPr lang="fr-FR" sz="2000" cap="none" dirty="0"/>
            </a:br>
            <a:r>
              <a:rPr lang="fr-FR" sz="2000" cap="none" dirty="0"/>
              <a:t>- travail en équipe, </a:t>
            </a:r>
            <a:br>
              <a:rPr lang="fr-FR" sz="2000" cap="none" dirty="0"/>
            </a:br>
            <a:r>
              <a:rPr lang="fr-FR" sz="2000" cap="none" dirty="0"/>
              <a:t>- résolution des problèmes techniques. </a:t>
            </a:r>
            <a:br>
              <a:rPr lang="fr-FR" sz="2000" cap="none" dirty="0"/>
            </a:br>
            <a:br>
              <a:rPr lang="fr-FR" sz="2000" dirty="0"/>
            </a:br>
            <a:r>
              <a:rPr lang="fr-FR" sz="1800" cap="none" dirty="0"/>
              <a:t>En conclusion, le projet </a:t>
            </a:r>
            <a:r>
              <a:rPr lang="fr-FR" sz="1800" cap="none" dirty="0" err="1"/>
              <a:t>electromart</a:t>
            </a:r>
            <a:r>
              <a:rPr lang="fr-FR" sz="1800" cap="none" dirty="0"/>
              <a:t> représente une solution moderne A </a:t>
            </a:r>
            <a:r>
              <a:rPr lang="fr-FR" sz="1800" cap="none" dirty="0" err="1"/>
              <a:t>developper</a:t>
            </a:r>
            <a:r>
              <a:rPr lang="fr-FR" sz="1800" cap="none" dirty="0"/>
              <a:t> pour la vente en ligne des produits électroniques et constitue une expérience enrichissante dans le domaine du développement informatique.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879766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C1B13-4C1E-77DF-D34E-B56D732F4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468" y="228600"/>
            <a:ext cx="8534400" cy="2298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7.Points </a:t>
            </a:r>
            <a:r>
              <a:rPr lang="en-US" sz="3200" dirty="0" err="1"/>
              <a:t>d’amelioration</a:t>
            </a:r>
            <a:endParaRPr lang="en-US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8AA6EB-6A10-69F3-495A-796B628BD76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14399" y="2437905"/>
            <a:ext cx="992124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entury Gothic (Headings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-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Résolution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des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erreurs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continues entre le frontend et le backend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- Continuer le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développement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de la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logique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du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vendeur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et des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autres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fonctionnalités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nécessaires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qui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contribuent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à la mise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valeur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notre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projet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dans son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contexte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ici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magasin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-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Implémenter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la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vérification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par e-mail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si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possible)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-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Renforcer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entury Gothic (Headings)"/>
              </a:rPr>
              <a:t> la sécurité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75DA1-4FE0-F9B0-5521-C5F370C44B1F}"/>
              </a:ext>
            </a:extLst>
          </p:cNvPr>
          <p:cNvSpPr txBox="1"/>
          <p:nvPr/>
        </p:nvSpPr>
        <p:spPr>
          <a:xfrm>
            <a:off x="10899958" y="228600"/>
            <a:ext cx="12920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12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270086-C66E-2E58-AAB6-D3588B5BD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996" y="4917165"/>
            <a:ext cx="6793100" cy="1827947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4081221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B05C2-A371-C24F-C7B7-E9182CE93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9B44B1-B82C-7487-7AB7-0EBB8AE26F48}"/>
              </a:ext>
            </a:extLst>
          </p:cNvPr>
          <p:cNvSpPr txBox="1"/>
          <p:nvPr/>
        </p:nvSpPr>
        <p:spPr>
          <a:xfrm>
            <a:off x="11316101" y="320412"/>
            <a:ext cx="875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247CE6-A64D-EC3F-4D24-5CA0C91FDB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996" y="4917165"/>
            <a:ext cx="6793100" cy="1827947"/>
          </a:xfrm>
          <a:prstGeom prst="rect">
            <a:avLst/>
          </a:prstGeom>
          <a:ln w="15875">
            <a:solidFill>
              <a:srgbClr val="FFFFFF">
                <a:alpha val="40000"/>
              </a:srgbClr>
            </a:soli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BCF5B50-DEB8-3DDA-F1CB-F5EB8D041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386" y="2262606"/>
            <a:ext cx="8534400" cy="1507067"/>
          </a:xfrm>
        </p:spPr>
        <p:txBody>
          <a:bodyPr/>
          <a:lstStyle/>
          <a:p>
            <a:r>
              <a:rPr lang="en-US" cap="none" dirty="0">
                <a:latin typeface="Century Gothic (Headings)"/>
                <a:cs typeface="Times New Roman" panose="02020603050405020304" pitchFamily="18" charset="0"/>
              </a:rPr>
              <a:t>Merci pour </a:t>
            </a:r>
            <a:r>
              <a:rPr lang="en-US" cap="none" dirty="0" err="1">
                <a:latin typeface="Century Gothic (Headings)"/>
                <a:cs typeface="Times New Roman" panose="02020603050405020304" pitchFamily="18" charset="0"/>
              </a:rPr>
              <a:t>votre</a:t>
            </a:r>
            <a:r>
              <a:rPr lang="en-US" cap="none" dirty="0">
                <a:latin typeface="Century Gothic (Headings)"/>
                <a:cs typeface="Times New Roman" panose="02020603050405020304" pitchFamily="18" charset="0"/>
              </a:rPr>
              <a:t> attention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491667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1437</TotalTime>
  <Words>713</Words>
  <Application>Microsoft Office PowerPoint</Application>
  <PresentationFormat>Widescreen</PresentationFormat>
  <Paragraphs>90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Century Gothic</vt:lpstr>
      <vt:lpstr>Century Gothic (Headings)</vt:lpstr>
      <vt:lpstr>Times New Roman</vt:lpstr>
      <vt:lpstr>Wingdings 3</vt:lpstr>
      <vt:lpstr>Slice</vt:lpstr>
      <vt:lpstr>Presentation du projet Electromart</vt:lpstr>
      <vt:lpstr>1  -  Introduction  2  -  Description  3  -  Approche de développement  4  -  Architecture - Diagrammes UML - Triggers 5  -  Technologies utilisées  6  -  Apprentissage et conclusion 7  -  Points d’amelioration  </vt:lpstr>
      <vt:lpstr>Le projet electromart est une plateforme de commerce électronique dédiée à la vente des produits électroniques. L’objectif principal du projet est de faciliter l’achat et la gestion des produits en ligne à travers une interface simple, moderne et sécurisée.</vt:lpstr>
      <vt:lpstr>L’idée de ce projet est née de notre désir de rendre l’accès, l’achat et la vente des produits électroniques plus faciles pour le consommateur. </vt:lpstr>
      <vt:lpstr>Le développement du projet a été réalisé en suivant une approche structurée basée sur : l’analyse des besoins des utilisateurs,  la conception des interfaces,  le développement des fonctionnalités,  les tests et la validation.  Une méthode de développement progressive a été utilisée afin d’améliorer le système étape par étape.</vt:lpstr>
      <vt:lpstr>L’architecture du projet est organisée en plusieurs parties : Frontend : interface utilisateur visible par les clients,  Backend : gestion de la logique métier et des données,  Base de données : stockage des informations des utilisateurs, produits et commandes.</vt:lpstr>
      <vt:lpstr>PowerPoint Presentation</vt:lpstr>
      <vt:lpstr>.Triggers</vt:lpstr>
      <vt:lpstr>PowerPoint Presentation</vt:lpstr>
      <vt:lpstr>HTML / CSS / JavaScript : création des interfaces web,  React  : développement du frontend,  Laravel : développement du backend,  MySQL : gestion de la base de données,  Git &amp; GitHub : gestion du code source et collaboration. </vt:lpstr>
      <vt:lpstr>À travers ce projet, plusieurs compétences ont été développées: - développement web,  - gestion des bases de données,  - travail en équipe,  - résolution des problèmes techniques.   En conclusion, le projet electromart représente une solution moderne A developper pour la vente en ligne des produits électroniques et constitue une expérience enrichissante dans le domaine du développement informatique.</vt:lpstr>
      <vt:lpstr>PowerPoint Presentation</vt:lpstr>
      <vt:lpstr>Merci pour votre attention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BROSS-</dc:creator>
  <cp:lastModifiedBy>BROSS-</cp:lastModifiedBy>
  <cp:revision>7</cp:revision>
  <dcterms:created xsi:type="dcterms:W3CDTF">2026-05-11T07:41:41Z</dcterms:created>
  <dcterms:modified xsi:type="dcterms:W3CDTF">2026-05-12T17:48:04Z</dcterms:modified>
</cp:coreProperties>
</file>